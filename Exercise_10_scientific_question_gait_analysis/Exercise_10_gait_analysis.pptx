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4"/>
  </p:sldMasterIdLst>
  <p:notesMasterIdLst>
    <p:notesMasterId r:id="rId8"/>
  </p:notesMasterIdLst>
  <p:handoutMasterIdLst>
    <p:handoutMasterId r:id="rId9"/>
  </p:handoutMasterIdLst>
  <p:sldIdLst>
    <p:sldId id="430" r:id="rId5"/>
    <p:sldId id="431" r:id="rId6"/>
    <p:sldId id="432" r:id="rId7"/>
  </p:sldIdLst>
  <p:sldSz cx="13442950" cy="7561263"/>
  <p:notesSz cx="7104063" cy="10234613"/>
  <p:defaultTextStyle>
    <a:defPPr>
      <a:defRPr lang="de-CH"/>
    </a:defPPr>
    <a:lvl1pPr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9" userDrawn="1">
          <p15:clr>
            <a:srgbClr val="A4A3A4"/>
          </p15:clr>
        </p15:guide>
        <p15:guide id="2" pos="1036" userDrawn="1">
          <p15:clr>
            <a:srgbClr val="A4A3A4"/>
          </p15:clr>
        </p15:guide>
        <p15:guide id="3" pos="191" userDrawn="1">
          <p15:clr>
            <a:srgbClr val="A4A3A4"/>
          </p15:clr>
        </p15:guide>
        <p15:guide id="4" orient="horz" pos="14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8B"/>
    <a:srgbClr val="00508C"/>
    <a:srgbClr val="003479"/>
    <a:srgbClr val="ECE4DC"/>
    <a:srgbClr val="333399"/>
    <a:srgbClr val="FF0000"/>
    <a:srgbClr val="FFC000"/>
    <a:srgbClr val="876F4B"/>
    <a:srgbClr val="A78B61"/>
    <a:srgbClr val="A884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46527-886B-3B85-2E8F-D8704C73261B}" v="39" dt="2025-12-03T15:24:52.893"/>
    <p1510:client id="{31638818-21FE-42CC-A124-918CC4E4C626}" v="329" dt="2025-12-02T21:25:28.561"/>
    <p1510:client id="{68293754-1108-FC9F-595B-45B8C32F509E}" v="4" dt="2025-12-02T17:27:27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 varScale="1">
        <p:scale>
          <a:sx n="115" d="100"/>
          <a:sy n="115" d="100"/>
        </p:scale>
        <p:origin x="208" y="208"/>
      </p:cViewPr>
      <p:guideLst>
        <p:guide orient="horz" pos="1469"/>
        <p:guide pos="1036"/>
        <p:guide pos="191"/>
        <p:guide orient="horz" pos="14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992" y="0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CH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106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992" y="9721106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74B13BA-36C6-4300-B5B6-6C1D152DFF13}" type="slidenum">
              <a:rPr lang="de-CH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8857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992" y="0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CH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407" y="4861442"/>
            <a:ext cx="568325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Textmasterformate durch Klicken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992" y="9721106"/>
            <a:ext cx="3078428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058061DB-DF71-4765-99A4-14E22DF63CCF}" type="slidenum">
              <a:rPr lang="de-CH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77471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679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061DB-DF71-4765-99A4-14E22DF63CCF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38734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" y="2621084"/>
            <a:ext cx="12234006" cy="4326916"/>
          </a:xfrm>
          <a:prstGeom prst="rect">
            <a:avLst/>
          </a:prstGeom>
        </p:spPr>
      </p:pic>
      <p:sp>
        <p:nvSpPr>
          <p:cNvPr id="3" name="Rechteck 2"/>
          <p:cNvSpPr/>
          <p:nvPr userDrawn="1"/>
        </p:nvSpPr>
        <p:spPr bwMode="auto">
          <a:xfrm>
            <a:off x="0" y="3247200"/>
            <a:ext cx="736601" cy="3081600"/>
          </a:xfrm>
          <a:prstGeom prst="rect">
            <a:avLst/>
          </a:prstGeom>
          <a:solidFill>
            <a:srgbClr val="0050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100" b="0" i="0" u="none" strike="noStrike" cap="none" normalizeH="0" baseline="0">
              <a:ln>
                <a:noFill/>
              </a:ln>
              <a:solidFill>
                <a:srgbClr val="003479"/>
              </a:solidFill>
              <a:effectLst/>
              <a:latin typeface="Arial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404367"/>
            <a:ext cx="11316606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</p:spTree>
    <p:extLst>
      <p:ext uri="{BB962C8B-B14F-4D97-AF65-F5344CB8AC3E}">
        <p14:creationId xmlns:p14="http://schemas.microsoft.com/office/powerpoint/2010/main" val="407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customiz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2621084"/>
            <a:ext cx="12241213" cy="432740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de-CH"/>
              <a:t>Title Slide picture</a:t>
            </a:r>
          </a:p>
        </p:txBody>
      </p:sp>
      <p:sp>
        <p:nvSpPr>
          <p:cNvPr id="3" name="Rechteck 2"/>
          <p:cNvSpPr/>
          <p:nvPr userDrawn="1"/>
        </p:nvSpPr>
        <p:spPr bwMode="auto">
          <a:xfrm>
            <a:off x="0" y="3247200"/>
            <a:ext cx="736601" cy="3081600"/>
          </a:xfrm>
          <a:prstGeom prst="rect">
            <a:avLst/>
          </a:prstGeom>
          <a:solidFill>
            <a:srgbClr val="0050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10429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100" b="0" i="0" u="none" strike="noStrike" cap="none" normalizeH="0" baseline="0">
              <a:ln>
                <a:noFill/>
              </a:ln>
              <a:solidFill>
                <a:srgbClr val="003479"/>
              </a:solidFill>
              <a:effectLst/>
              <a:latin typeface="Arial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404367"/>
            <a:ext cx="11316606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</p:spTree>
    <p:extLst>
      <p:ext uri="{BB962C8B-B14F-4D97-AF65-F5344CB8AC3E}">
        <p14:creationId xmlns:p14="http://schemas.microsoft.com/office/powerpoint/2010/main" val="427153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044327"/>
            <a:ext cx="11583768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925200" y="2197100"/>
            <a:ext cx="11583768" cy="4464050"/>
          </a:xfrm>
        </p:spPr>
        <p:txBody>
          <a:bodyPr/>
          <a:lstStyle>
            <a:lvl1pPr>
              <a:spcBef>
                <a:spcPts val="1200"/>
              </a:spcBef>
              <a:defRPr sz="2000" b="0" i="0" baseline="0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5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1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7834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 userDrawn="1">
          <p15:clr>
            <a:srgbClr val="FBAE40"/>
          </p15:clr>
        </p15:guide>
        <p15:guide id="2" pos="42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925513" y="2089150"/>
            <a:ext cx="11591925" cy="4787900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Picture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925200" y="1044327"/>
            <a:ext cx="11582969" cy="827336"/>
          </a:xfrm>
        </p:spPr>
        <p:txBody>
          <a:bodyPr anchor="b" anchorCtr="0"/>
          <a:lstStyle>
            <a:lvl1pPr>
              <a:defRPr sz="28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7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5" hasCustomPrompt="1"/>
          </p:nvPr>
        </p:nvSpPr>
        <p:spPr>
          <a:xfrm>
            <a:off x="925513" y="1511300"/>
            <a:ext cx="11582400" cy="4789488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Picture</a:t>
            </a:r>
          </a:p>
        </p:txBody>
      </p:sp>
      <p:sp>
        <p:nvSpPr>
          <p:cNvPr id="5" name="Textplatzhalt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27995" y="6476400"/>
            <a:ext cx="11581147" cy="544591"/>
          </a:xfrm>
        </p:spPr>
        <p:txBody>
          <a:bodyPr/>
          <a:lstStyle>
            <a:lvl1pPr>
              <a:spcBef>
                <a:spcPts val="800"/>
              </a:spcBef>
              <a:defRPr sz="1500" b="0"/>
            </a:lvl1pPr>
          </a:lstStyle>
          <a:p>
            <a:pPr lvl="0"/>
            <a:r>
              <a:rPr lang="de-CH"/>
              <a:t>Text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8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077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4" hasCustomPrompt="1"/>
          </p:nvPr>
        </p:nvSpPr>
        <p:spPr>
          <a:xfrm>
            <a:off x="925513" y="1509713"/>
            <a:ext cx="5618162" cy="5151437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Picture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6721475" y="1509713"/>
            <a:ext cx="5974537" cy="686742"/>
          </a:xfrm>
        </p:spPr>
        <p:txBody>
          <a:bodyPr anchor="t" anchorCtr="0"/>
          <a:lstStyle>
            <a:lvl1pPr>
              <a:defRPr sz="2000" b="1" i="0" baseline="0"/>
            </a:lvl1pPr>
          </a:lstStyle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a title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body" idx="1" hasCustomPrompt="1"/>
          </p:nvPr>
        </p:nvSpPr>
        <p:spPr>
          <a:xfrm>
            <a:off x="6721475" y="2340472"/>
            <a:ext cx="5976664" cy="4320678"/>
          </a:xfrm>
        </p:spPr>
        <p:txBody>
          <a:bodyPr/>
          <a:lstStyle>
            <a:lvl1pPr>
              <a:spcBef>
                <a:spcPts val="1200"/>
              </a:spcBef>
              <a:defRPr sz="2000" b="0" i="0" baseline="0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925200" y="7161213"/>
            <a:ext cx="1158296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CH" sz="210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23314" y="7197725"/>
            <a:ext cx="1085654" cy="17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1042988">
              <a:defRPr sz="1200"/>
            </a:lvl1pPr>
          </a:lstStyle>
          <a:p>
            <a:fld id="{8C812475-90CC-411E-A993-929AF0D0895B}" type="slidenum">
              <a:rPr lang="de-CH">
                <a:solidFill>
                  <a:srgbClr val="000000"/>
                </a:solidFill>
              </a:rPr>
              <a:pPr/>
              <a:t>‹#›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8" name="Textplatzhalt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925199" y="7197725"/>
            <a:ext cx="10440000" cy="179388"/>
          </a:xfrm>
        </p:spPr>
        <p:txBody>
          <a:bodyPr/>
          <a:lstStyle>
            <a:lvl1pPr>
              <a:defRPr sz="1200" b="0"/>
            </a:lvl1pPr>
            <a:lvl2pPr marL="180975" indent="0">
              <a:buNone/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err="1"/>
              <a:t>Footer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804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lan Your Studies FHNW HLS MSc">
            <a:extLst>
              <a:ext uri="{FF2B5EF4-FFF2-40B4-BE49-F238E27FC236}">
                <a16:creationId xmlns:a16="http://schemas.microsoft.com/office/drawing/2014/main" id="{A267E0FC-80FD-81D3-2443-A8CAF598DE5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87" y="243796"/>
            <a:ext cx="5812561" cy="556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5200" y="1501110"/>
            <a:ext cx="11583768" cy="82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5200" y="2525841"/>
            <a:ext cx="11583768" cy="4535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Erste Ebene</a:t>
            </a:r>
          </a:p>
          <a:p>
            <a:pPr lvl="2"/>
            <a:r>
              <a:rPr lang="de-CH"/>
              <a:t>Zweite Ebene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E916B6D-0C9F-3E4D-A634-C47190B1505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0027" y="314399"/>
            <a:ext cx="142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4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1" r:id="rId2"/>
    <p:sldLayoutId id="2147483655" r:id="rId3"/>
    <p:sldLayoutId id="2147483657" r:id="rId4"/>
    <p:sldLayoutId id="2147483659" r:id="rId5"/>
    <p:sldLayoutId id="2147483660" r:id="rId6"/>
  </p:sldLayoutIdLst>
  <p:hf hdr="0" dt="0"/>
  <p:txStyles>
    <p:titleStyle>
      <a:lvl1pPr algn="l" defTabSz="1042988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2pPr>
      <a:lvl3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3pPr>
      <a:lvl4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4pPr>
      <a:lvl5pPr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5pPr>
      <a:lvl6pPr marL="4572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6pPr>
      <a:lvl7pPr marL="9144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7pPr>
      <a:lvl8pPr marL="13716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8pPr>
      <a:lvl9pPr marL="1828800" algn="l" defTabSz="1042988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</a:defRPr>
      </a:lvl9pPr>
    </p:titleStyle>
    <p:bodyStyle>
      <a:lvl1pPr algn="l" defTabSz="1042988" rtl="0" eaLnBrk="1" fontAlgn="base" hangingPunct="1">
        <a:lnSpc>
          <a:spcPct val="115000"/>
        </a:lnSpc>
        <a:spcBef>
          <a:spcPct val="10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352425" indent="-171450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712788" indent="-169863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073150" indent="-180975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14319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5pPr>
      <a:lvl6pPr marL="18891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3463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28035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260725" indent="-179388" algn="l" defTabSz="1042988" rtl="0" eaLnBrk="1" fontAlgn="base" hangingPunct="1">
        <a:lnSpc>
          <a:spcPct val="115000"/>
        </a:lnSpc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46A0C37-BD85-4065-9B50-5C7C19C6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42" y="4628623"/>
            <a:ext cx="11316606" cy="1359449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sz="3200" dirty="0"/>
              <a:t>Digital Biomarker Study with Smartphone: Gait and Balance Disorder</a:t>
            </a:r>
            <a:br>
              <a:rPr lang="en-US" sz="3200" dirty="0"/>
            </a:br>
            <a:br>
              <a:rPr lang="en-US" sz="3200" b="0" dirty="0">
                <a:cs typeface="Arial"/>
              </a:rPr>
            </a:br>
            <a:r>
              <a:rPr lang="en-US" sz="3200" b="0" dirty="0"/>
              <a:t>Can the combination of raw inertial data (3-axis Accelerometer/Gyroscope) and software-fused kinematics (Linear Acceleration and Game Rotation Vector) provided by standard mobile architectures accurately classify pathological gait phenotypes and quantify postural sway asymmetry?</a:t>
            </a:r>
            <a:endParaRPr lang="en-US" sz="3200" b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643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C33A5-3F29-4510-ACE3-C28D36DD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00" y="833189"/>
            <a:ext cx="11583768" cy="827336"/>
          </a:xfrm>
        </p:spPr>
        <p:txBody>
          <a:bodyPr/>
          <a:lstStyle/>
          <a:p>
            <a:r>
              <a:rPr lang="en-US" dirty="0"/>
              <a:t>Which sensors in a smartphone are useful to derive data?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B0B7C0-F12F-4893-BFCD-DFAE10578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812475-90CC-411E-A993-929AF0D0895B}" type="slidenum">
              <a:rPr lang="de-CH" smtClean="0">
                <a:solidFill>
                  <a:srgbClr val="000000"/>
                </a:solidFill>
              </a:rPr>
              <a:pPr/>
              <a:t>2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3DB1F2-5078-CCE1-1774-8A0C9B7235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F23BD-EF2B-5ABD-BAAD-75FE6F7E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200" y="1817649"/>
            <a:ext cx="11583768" cy="4843501"/>
          </a:xfrm>
        </p:spPr>
        <p:txBody>
          <a:bodyPr/>
          <a:lstStyle/>
          <a:p>
            <a:r>
              <a:rPr lang="en-US" sz="1200" b="1" dirty="0"/>
              <a:t>1. Linear Acceleration Sensor (Virtual/Fused)</a:t>
            </a:r>
          </a:p>
          <a:p>
            <a:r>
              <a:rPr lang="en-US" sz="1200" b="1" dirty="0"/>
              <a:t>This sensor </a:t>
            </a:r>
            <a:r>
              <a:rPr lang="en-US" sz="1200" dirty="0"/>
              <a:t>automatically subtracts the constant pull of Earth's gravity from the raw accelerometer data.</a:t>
            </a:r>
          </a:p>
          <a:p>
            <a:r>
              <a:rPr lang="en-US" sz="1200" b="1" dirty="0"/>
              <a:t>Clinical Value:</a:t>
            </a:r>
            <a:r>
              <a:rPr lang="en-US" sz="1200" dirty="0"/>
              <a:t> Gives back the isolated force on the patient</a:t>
            </a:r>
          </a:p>
          <a:p>
            <a:r>
              <a:rPr lang="en-US" sz="1200" b="1" dirty="0"/>
              <a:t>2. Goldfish 3-axis Gyroscope (Hardware)</a:t>
            </a:r>
          </a:p>
          <a:p>
            <a:r>
              <a:rPr lang="en-US" sz="1200" dirty="0"/>
              <a:t>It measures angular velocity (how fast the phone is rotating around its axes).</a:t>
            </a:r>
          </a:p>
          <a:p>
            <a:r>
              <a:rPr lang="en-US" sz="1200" b="1" dirty="0"/>
              <a:t>Clinical Value:</a:t>
            </a:r>
            <a:r>
              <a:rPr lang="en-US" sz="1200" dirty="0"/>
              <a:t> Essential for capturing </a:t>
            </a:r>
            <a:r>
              <a:rPr lang="en-US" sz="1200" b="1" dirty="0"/>
              <a:t>trunk sway</a:t>
            </a:r>
            <a:r>
              <a:rPr lang="en-US" sz="1200" dirty="0"/>
              <a:t> during balance tests and </a:t>
            </a:r>
            <a:r>
              <a:rPr lang="en-US" sz="1200" b="1" dirty="0"/>
              <a:t>turning velocity</a:t>
            </a:r>
            <a:r>
              <a:rPr lang="en-US" sz="1200" dirty="0"/>
              <a:t> during mobility tests (like the Timed Up and Go).</a:t>
            </a:r>
          </a:p>
          <a:p>
            <a:r>
              <a:rPr lang="en-US" sz="1200" b="1" dirty="0"/>
              <a:t>3. Game Rotation Vector Sensor (Virtual/Fused)</a:t>
            </a:r>
          </a:p>
          <a:p>
            <a:r>
              <a:rPr lang="en-US" sz="1200" dirty="0"/>
              <a:t>This sensor fuses the accelerometer and gyroscope to track the phone’s precise 3D angle in space. Crucially, it </a:t>
            </a:r>
            <a:r>
              <a:rPr lang="en-US" sz="1200" b="1" dirty="0"/>
              <a:t>ignores the magnetometer</a:t>
            </a:r>
            <a:r>
              <a:rPr lang="en-US" sz="1200" dirty="0"/>
              <a:t> (compass).</a:t>
            </a:r>
          </a:p>
          <a:p>
            <a:r>
              <a:rPr lang="en-US" sz="1200" b="1" dirty="0"/>
              <a:t>Clinical Value:</a:t>
            </a:r>
            <a:r>
              <a:rPr lang="en-US" sz="1200" dirty="0"/>
              <a:t> Standard "Rotation Vector" sensors use the magnetometer, which gets heavily distorted indoors by hospital beds, steel floor beams, and radiology equipment. The </a:t>
            </a:r>
            <a:r>
              <a:rPr lang="en-US" sz="1200" i="1" dirty="0"/>
              <a:t>Game</a:t>
            </a:r>
            <a:r>
              <a:rPr lang="en-US" sz="1200" dirty="0"/>
              <a:t> version is completely immune to indoor magnetic interference, making it the gold standard for tracking clean, drift-free pelvis or trunk rotation.</a:t>
            </a:r>
          </a:p>
          <a:p>
            <a:r>
              <a:rPr lang="en-US" sz="1200" b="1" dirty="0"/>
              <a:t>4. Gravity Sensor (Virtual/Fused)</a:t>
            </a:r>
          </a:p>
          <a:p>
            <a:r>
              <a:rPr lang="en-US" sz="1200" dirty="0"/>
              <a:t>It isolates </a:t>
            </a:r>
            <a:r>
              <a:rPr lang="en-US" sz="1200" i="1" dirty="0"/>
              <a:t>only</a:t>
            </a:r>
            <a:r>
              <a:rPr lang="en-US" sz="1200" dirty="0"/>
              <a:t> the gravity component from the accelerometer.</a:t>
            </a:r>
          </a:p>
          <a:p>
            <a:r>
              <a:rPr lang="en-US" sz="1200" b="1" dirty="0"/>
              <a:t>Clinical Value:</a:t>
            </a:r>
            <a:r>
              <a:rPr lang="en-US" sz="1200" dirty="0"/>
              <a:t> Perfect for </a:t>
            </a:r>
            <a:r>
              <a:rPr lang="en-US" sz="1200" b="1" dirty="0"/>
              <a:t>static balance analysis</a:t>
            </a:r>
            <a:r>
              <a:rPr lang="en-US" sz="1200" dirty="0"/>
              <a:t> (like the Romberg test). By tracking how the gravity vector shifts relative to the phone, you can calculate the exact angle of a patient's postural lean (e.g., whether a patient with a progressive supranuclear palsy phenotype is leaning dangerously backward).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2395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7E9873-C47A-62BB-859D-BB40BAED3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38" y="1871663"/>
            <a:ext cx="6405217" cy="4787900"/>
          </a:xfrm>
          <a:prstGeom prst="rect">
            <a:avLst/>
          </a:prstGeom>
          <a:noFill/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399F8406-F096-A74E-1AE4-E9780166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00" y="1044327"/>
            <a:ext cx="11582969" cy="827336"/>
          </a:xfrm>
        </p:spPr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46108-D49D-2FCB-CE3C-5ACE1842D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3314" y="7197725"/>
            <a:ext cx="1085654" cy="179388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C812475-90CC-411E-A993-929AF0D0895B}" type="slidenum">
              <a:rPr lang="de-CH" smtClean="0">
                <a:solidFill>
                  <a:srgbClr val="000000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de-CH">
              <a:solidFill>
                <a:srgbClr val="000000"/>
              </a:solidFill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42142C1-E497-4529-C518-0937DB846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5199" y="7197725"/>
            <a:ext cx="10440000" cy="179388"/>
          </a:xfrm>
        </p:spPr>
        <p:txBody>
          <a:bodyPr/>
          <a:lstStyle/>
          <a:p>
            <a:r>
              <a:rPr lang="en-US" dirty="0" err="1"/>
              <a:t>data.json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936653"/>
      </p:ext>
    </p:extLst>
  </p:cSld>
  <p:clrMapOvr>
    <a:masterClrMapping/>
  </p:clrMapOvr>
</p:sld>
</file>

<file path=ppt/theme/theme1.xml><?xml version="1.0" encoding="utf-8"?>
<a:theme xmlns:a="http://schemas.openxmlformats.org/drawingml/2006/main" name="FHNWPPE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nutzerdefiniert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429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10429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0" tIns="0" rIns="0" bIns="0" rtlCol="0" anchor="ctr" anchorCtr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0adfb9-8511-44a8-a6cc-3c6c1ef8686e" xsi:nil="true"/>
    <lcf76f155ced4ddcb4097134ff3c332f xmlns="117237c5-d279-4580-9719-c2d75c1d18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DDCD5F98823474F8B8E939BC7AFBD05" ma:contentTypeVersion="11" ma:contentTypeDescription="Ein neues Dokument erstellen." ma:contentTypeScope="" ma:versionID="539231d569b8ef52793167b2676a06ca">
  <xsd:schema xmlns:xsd="http://www.w3.org/2001/XMLSchema" xmlns:xs="http://www.w3.org/2001/XMLSchema" xmlns:p="http://schemas.microsoft.com/office/2006/metadata/properties" xmlns:ns2="117237c5-d279-4580-9719-c2d75c1d18d9" xmlns:ns3="f20adfb9-8511-44a8-a6cc-3c6c1ef8686e" targetNamespace="http://schemas.microsoft.com/office/2006/metadata/properties" ma:root="true" ma:fieldsID="9a72ca0c07ea66f68b1272f7bd1f6370" ns2:_="" ns3:_="">
    <xsd:import namespace="117237c5-d279-4580-9719-c2d75c1d18d9"/>
    <xsd:import namespace="f20adfb9-8511-44a8-a6cc-3c6c1ef868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237c5-d279-4580-9719-c2d75c1d18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7873907d-d049-4c15-acb6-7b8f2d6df6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adfb9-8511-44a8-a6cc-3c6c1ef8686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b9ba93c-eb4e-495e-b3ea-00474fcb00f5}" ma:internalName="TaxCatchAll" ma:showField="CatchAllData" ma:web="f20adfb9-8511-44a8-a6cc-3c6c1ef868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AE257-5CD6-405E-8608-4D484C1265C0}">
  <ds:schemaRefs>
    <ds:schemaRef ds:uri="117237c5-d279-4580-9719-c2d75c1d18d9"/>
    <ds:schemaRef ds:uri="f20adfb9-8511-44a8-a6cc-3c6c1ef8686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06F0F7-CAC7-4DF3-A184-9314C0E4DA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7F4E85-8676-4B9B-952F-D8AE21653251}">
  <ds:schemaRefs>
    <ds:schemaRef ds:uri="117237c5-d279-4580-9719-c2d75c1d18d9"/>
    <ds:schemaRef ds:uri="f20adfb9-8511-44a8-a6cc-3c6c1ef868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324</Words>
  <Application>Microsoft Macintosh PowerPoint</Application>
  <PresentationFormat>Custom</PresentationFormat>
  <Paragraphs>20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FHNWPPE</vt:lpstr>
      <vt:lpstr>Digital Biomarker Study with Smartphone: Gait and Balance Disorder  Can the combination of raw inertial data (3-axis Accelerometer/Gyroscope) and software-fused kinematics (Linear Acceleration and Game Rotation Vector) provided by standard mobile architectures accurately classify pathological gait phenotypes and quantify postural sway asymmetry?</vt:lpstr>
      <vt:lpstr>Which sensors in a smartphone are useful to derive data?</vt:lpstr>
      <vt:lpstr>Visualization</vt:lpstr>
    </vt:vector>
  </TitlesOfParts>
  <Company>Fachhochschule Nordwestschweiz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MCI Clinical Monitoring Application- MsMI2025 – DTH2025 – 8. Digital Medicine</dc:title>
  <dc:creator>lea.gauch@students.fhnw.ch</dc:creator>
  <cp:keywords/>
  <dc:description/>
  <cp:lastModifiedBy>Dän F</cp:lastModifiedBy>
  <cp:revision>20</cp:revision>
  <cp:lastPrinted>2024-06-04T20:19:53Z</cp:lastPrinted>
  <dcterms:created xsi:type="dcterms:W3CDTF">2017-04-20T09:18:31Z</dcterms:created>
  <dcterms:modified xsi:type="dcterms:W3CDTF">2026-06-18T09:57:04Z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0x0101008DDCD5F98823474F8B8E939BC7AFBD05</vt:lpwstr>
  </property>
  <property fmtid="{D5CDD505-2E9C-101B-9397-08002B2CF9AE}" pid="3" name="ProcessesHSOE">
    <vt:lpwstr>9;#FHNW|d3939a15-4f87-489a-86a1-d0e81e92c4fe</vt:lpwstr>
  </property>
  <property fmtid="{D5CDD505-2E9C-101B-9397-08002B2CF9AE}" pid="4" name="WorkflowChangePath">
    <vt:lpwstr>d533b4bc-016c-4c10-a271-18bf054fa908,4;83c9ecdf-ab02-417f-9939-b145cd4f9bdb,6;83c9ecdf-ab02-417f-9939-b145cd4f9bdb,8;83c9ecdf-ab02-417f-9939-b145cd4f9bdb,10;</vt:lpwstr>
  </property>
  <property fmtid="{D5CDD505-2E9C-101B-9397-08002B2CF9AE}" pid="5" name="MediaServiceImageTags">
    <vt:lpwstr/>
  </property>
</Properties>
</file>